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18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64592" cy="5143500"/>
          </a:xfrm>
          <a:prstGeom prst="rect">
            <a:avLst/>
          </a:prstGeom>
          <a:solidFill>
            <a:srgbClr val="14A9A8">
              <a:alpha val="45000"/>
            </a:srgbClr>
          </a:solidFill>
          <a:ln w="12700">
            <a:solidFill>
              <a:srgbClr val="14A9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1828800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858000" y="3474720"/>
            <a:ext cx="2286000" cy="1645920"/>
          </a:xfrm>
          <a:prstGeom prst="rect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ワークフロー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プロジェクト監査 &amp; スケジュール最適化システム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816352"/>
            <a:ext cx="73152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Multi-Agent Risk Orchestrator  →  F2: Schedule Optimizer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Workflow v0.6.0  |  Project: 認証システムセキュリティ改善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内藤 睦博　　</a:t>
            </a:r>
            <a:r>
              <a:rPr lang="en-US" sz="1200" b="1" dirty="0">
                <a:solidFill>
                  <a:srgbClr val="14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1.0.2　　</a:t>
            </a:r>
            <a:r>
              <a:rPr lang="en-US" sz="1200" b="1" dirty="0">
                <a:solidFill>
                  <a:srgbClr val="14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本仕様書の構成（全18スライド）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58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74320" y="965840"/>
            <a:ext cx="384048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74320" y="965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984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システム概要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1670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全体アーキテクチャとシステムの目的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4230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423040"/>
            <a:ext cx="384048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42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144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入力データ仕様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16242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3種類の入力ファイルの詳細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8802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1880240"/>
            <a:ext cx="384048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" y="188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1898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ワークフロー全体フロー図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20814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F1のDifyノード構成を図解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3374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2337440"/>
            <a:ext cx="384048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74320" y="2337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2355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エージェント仕様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25386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各LLMノードのプロンプト・IN/OUT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7946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274320" y="2794640"/>
            <a:ext cx="384048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74320" y="27946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2812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RAG・出力ノード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29958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知識検索とMarkdown出力の仕組み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2518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274320" y="3251840"/>
            <a:ext cx="38404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74320" y="3251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327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ワークフロー全体フロー図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34530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F2のDifyノード構成を図解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7090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274320" y="3709040"/>
            <a:ext cx="38404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274320" y="3709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372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エージェント仕様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39102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各LLMノードのプロンプト・IN/OUT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1662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274320" y="4166240"/>
            <a:ext cx="38404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274320" y="4166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418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F1→F2 データフロー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43674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2つのワークフロー間のデータ受け渡し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6234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274320" y="4623440"/>
            <a:ext cx="38404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274320" y="4623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1520" y="464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データ構成表：WBS CSV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1520" y="48246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WBSの列定義と実データ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9658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709160" y="965840"/>
            <a:ext cx="384048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709160" y="965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66360" y="984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データ構成表：spec_yaml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66360" y="11670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YAMLのキー構造と実データ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09160" y="14230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4709160" y="1423040"/>
            <a:ext cx="384048" cy="4023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4709160" y="142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166360" y="144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データ構成表：議事録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66360" y="16242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議事録テキストの構造と実データ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09160" y="18802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4709160" y="1880240"/>
            <a:ext cx="384048" cy="4023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4709160" y="1880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166360" y="1898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ナレッジベース仕様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166360" y="20814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RAG用トラブル知見集P-01〜P-30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09160" y="23374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4709160" y="2337440"/>
            <a:ext cx="384048" cy="4023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4709160" y="2337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166360" y="2355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出力仕様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166360" y="25386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各エージェントの出力フォーマット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09160" y="27946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70"/>
          <p:cNvSpPr/>
          <p:nvPr/>
        </p:nvSpPr>
        <p:spPr>
          <a:xfrm>
            <a:off x="4709160" y="2794640"/>
            <a:ext cx="384048" cy="4023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4709160" y="27946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66360" y="2812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リスク分析結果サマリー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166360" y="29958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現在のプロジェクト状況と検出リスク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709160" y="32518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75"/>
          <p:cNvSpPr/>
          <p:nvPr/>
        </p:nvSpPr>
        <p:spPr>
          <a:xfrm>
            <a:off x="4709160" y="3251840"/>
            <a:ext cx="384048" cy="4023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6"/>
          <p:cNvSpPr/>
          <p:nvPr/>
        </p:nvSpPr>
        <p:spPr>
          <a:xfrm>
            <a:off x="4709160" y="32518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166360" y="327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運用ガイドライン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166360" y="34530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週次実行手順・拡張方針・保守運用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09160" y="37090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80"/>
          <p:cNvSpPr/>
          <p:nvPr/>
        </p:nvSpPr>
        <p:spPr>
          <a:xfrm>
            <a:off x="4709160" y="3709040"/>
            <a:ext cx="384048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4709160" y="3709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166360" y="372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WBSデータ一覧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166360" y="39102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全10タスクの詳細テーブル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709160" y="41662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7" name="Shape 85"/>
          <p:cNvSpPr/>
          <p:nvPr/>
        </p:nvSpPr>
        <p:spPr>
          <a:xfrm>
            <a:off x="4709160" y="4166240"/>
            <a:ext cx="384048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86"/>
          <p:cNvSpPr/>
          <p:nvPr/>
        </p:nvSpPr>
        <p:spPr>
          <a:xfrm>
            <a:off x="4709160" y="4166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166360" y="418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議事録・YAML比較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166360" y="43674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第2回・第3回の変化点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709160" y="4623440"/>
            <a:ext cx="4251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4709160" y="4623440"/>
            <a:ext cx="384048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4709160" y="4623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5166360" y="464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クロージング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166360" y="48246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システム概要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Multi-Agent Workflow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【システムの目的】議事録・WBS・前週YAMLの3入力を自動処理し、遅延・リスクを検出してスケジュール最適案をPMに提示する「AI駆動プロジェクト監査システム」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2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84048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Multi-Agent Risk Orchestrator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リスク検出・監査レポート生成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322576"/>
            <a:ext cx="39319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議事録・WBS・YAMLを並列読み込み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事実抽出エージェント（LLM）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監査エージェント（WBS照合・遅延検出）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知識検索（RAG / トラブル知見集 30件）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リスク専門家エージェント（対策提示）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Markdown形式で監査レポート出力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70000" y="2834640"/>
            <a:ext cx="38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0000" y="3255264"/>
            <a:ext cx="41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F1出力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→F2入力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114800" cy="2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64608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Schedule Optimizer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スケジュール再計画・WBS自動更新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608" y="2322576"/>
            <a:ext cx="39319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F1レポート＋WBS＋YAMLを統合入力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スケジュール調整エージェント（A/B/C案）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Mermaid Ganttチャート自動生成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PM判断エージェント（推奨案提示）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PM採用判断（HITL）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採用案WBS化エージェント（改訂WBS）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580000"/>
            <a:ext cx="1874520" cy="530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590000"/>
            <a:ext cx="18745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274320" y="4880000"/>
            <a:ext cx="18745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入力ファイル種別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04288" y="4580000"/>
            <a:ext cx="1874520" cy="530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304288" y="4590000"/>
            <a:ext cx="18745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2304288" y="4880000"/>
            <a:ext cx="18745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総エージェント数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34256" y="4580000"/>
            <a:ext cx="1874520" cy="530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334256" y="4590000"/>
            <a:ext cx="18745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4334256" y="4880000"/>
            <a:ext cx="18745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RAGパターン数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64224" y="4580000"/>
            <a:ext cx="2505456" cy="530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364224" y="4590000"/>
            <a:ext cx="2505456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2200"/>
          </a:p>
        </p:txBody>
      </p:sp>
      <p:sp>
        <p:nvSpPr>
          <p:cNvPr id="31" name="Text 29"/>
          <p:cNvSpPr/>
          <p:nvPr/>
        </p:nvSpPr>
        <p:spPr>
          <a:xfrm>
            <a:off x="6364224" y="4880000"/>
            <a:ext cx="250545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PM判断ゲート搭載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入力データ仕様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3種類の入力ファイルの構造と役割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83464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8346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議事録テキスト（meeting_text）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.txt テキストファイル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今週の会議内容から事実を抽出する起点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984248"/>
            <a:ext cx="26334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47472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含まれるデータ: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日時・参加者・議題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進捗報告（タスクID別）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決定事項・アクションアイテム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発生しているトラブル・課題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担当者ごとの発言内容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602736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20624" y="36393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実データ例: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38404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meeting_minutes_20260518.txt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参加者: 内藤PM, 鈴木BE, 佐藤FE, 田中Infra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T005: CVE脆弱性対応で3日遅延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T004: 沈黙のリスク発覚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82112" y="987552"/>
            <a:ext cx="283464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182112" y="987552"/>
            <a:ext cx="283464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273552" y="987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WBSベースライン（wbs_csv）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73552" y="14996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.csv / .txt CSVファイル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73552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計画値の「真実の源泉」として監査に使用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73552" y="1984248"/>
            <a:ext cx="26334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273552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含まれるデータ: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2249424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phase（フェーズ）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assignee（担当者）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duration_days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progress_pct（進捗率 0-100）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dependencies（依存タスクID）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status（done / in_progress / not_started）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73552" y="3602736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346704" y="36393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実データ例: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46704" y="38404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wbs_csv.txt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T005,OAuth実装,implementation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鈴木,2026-05-14,8,0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"T002,T003",not_started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08192" y="987552"/>
            <a:ext cx="283464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108192" y="987552"/>
            <a:ext cx="283464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199632" y="987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前回Spec（spec_yaml）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14996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.yaml / .yml YAMLファイル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9632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前週の記憶として進捗率・メモを保持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99632" y="1984248"/>
            <a:ext cx="26334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199632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含まれるデータ: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17920" y="2249424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project_metadata（PM・バージョン）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task_status（前週末の進捗率）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completed_at（完了日）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assignee（担当者）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note（特記事項）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changelog（変更履歴）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99632" y="3602736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272784" y="36393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実データ例: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72784" y="38404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spec_yaml.yaml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T002: progress 80 / in_progress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T003: progress 70 / in_progress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T004: not_started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note: 5/14骨子予定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280000" cy="620000"/>
          </a:xfrm>
          <a:prstGeom prst="rect">
            <a:avLst/>
          </a:prstGeom>
          <a:solidFill>
            <a:srgbClr val="0E9C9B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/>
          <p:cNvSpPr/>
          <p:nvPr/>
        </p:nvSpPr>
        <p:spPr>
          <a:xfrm>
            <a:off x="380000" y="0"/>
            <a:ext cx="8644000" cy="6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F1</a:t>
            </a: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 全体フロー図</a:t>
            </a:r>
            <a:endParaRPr lang="en-US" sz="2000" dirty="0"/>
          </a:p>
        </p:txBody>
      </p:sp>
      <p:sp>
        <p:nvSpPr>
          <p:cNvPr id="5" name="Text 5"/>
          <p:cNvSpPr/>
          <p:nvPr/>
        </p:nvSpPr>
        <p:spPr>
          <a:xfrm>
            <a:off x="380000" y="660000"/>
            <a:ext cx="864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Risk Orchestrator — Dify ノード構成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228600" y="890000"/>
            <a:ext cx="8686800" cy="3700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7"/>
          <p:cNvSpPr/>
          <p:nvPr/>
        </p:nvSpPr>
        <p:spPr>
          <a:xfrm>
            <a:off x="228600" y="890000"/>
            <a:ext cx="8686800" cy="3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|  ユーザー入力（3ファイルアップロード）</a:t>
            </a:r>
            <a:endParaRPr lang="en-US" sz="1050"/>
          </a:p>
        </p:txBody>
      </p:sp>
      <p:sp>
        <p:nvSpPr>
          <p:cNvPr id="8" name="Line 8"/>
          <p:cNvSpPr/>
          <p:nvPr/>
        </p:nvSpPr>
        <p:spPr>
          <a:xfrm>
            <a:off x="1652400" y="1260000"/>
            <a:ext cx="0" cy="16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Line 9"/>
          <p:cNvSpPr/>
          <p:nvPr/>
        </p:nvSpPr>
        <p:spPr>
          <a:xfrm>
            <a:off x="4572000" y="1260000"/>
            <a:ext cx="0" cy="16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Line 10"/>
          <p:cNvSpPr/>
          <p:nvPr/>
        </p:nvSpPr>
        <p:spPr>
          <a:xfrm>
            <a:off x="7491600" y="1260000"/>
            <a:ext cx="0" cy="16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11"/>
          <p:cNvSpPr/>
          <p:nvPr/>
        </p:nvSpPr>
        <p:spPr>
          <a:xfrm>
            <a:off x="228600" y="1420000"/>
            <a:ext cx="2847600" cy="56000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2"/>
          <p:cNvSpPr/>
          <p:nvPr/>
        </p:nvSpPr>
        <p:spPr>
          <a:xfrm>
            <a:off x="228600" y="1420000"/>
            <a:ext cx="2847600" cy="3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Extractor ①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議事録情報抽出</a:t>
            </a:r>
            <a:endParaRPr lang="en-US" sz="900"/>
          </a:p>
        </p:txBody>
      </p:sp>
      <p:sp>
        <p:nvSpPr>
          <p:cNvPr id="13" name="Text 13"/>
          <p:cNvSpPr/>
          <p:nvPr/>
        </p:nvSpPr>
        <p:spPr>
          <a:xfrm>
            <a:off x="228600" y="1800000"/>
            <a:ext cx="28476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会議テキスト → LLM入力形式</a:t>
            </a:r>
            <a:endParaRPr lang="en-US" sz="750"/>
          </a:p>
        </p:txBody>
      </p:sp>
      <p:sp>
        <p:nvSpPr>
          <p:cNvPr id="14" name="Shape 14"/>
          <p:cNvSpPr/>
          <p:nvPr/>
        </p:nvSpPr>
        <p:spPr>
          <a:xfrm>
            <a:off x="3148200" y="1420000"/>
            <a:ext cx="2847600" cy="56000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5"/>
          <p:cNvSpPr/>
          <p:nvPr/>
        </p:nvSpPr>
        <p:spPr>
          <a:xfrm>
            <a:off x="3148200" y="1420000"/>
            <a:ext cx="2847600" cy="3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Extractor ②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WBS情報抽出</a:t>
            </a:r>
            <a:endParaRPr lang="en-US" sz="900"/>
          </a:p>
        </p:txBody>
      </p:sp>
      <p:sp>
        <p:nvSpPr>
          <p:cNvPr id="16" name="Text 16"/>
          <p:cNvSpPr/>
          <p:nvPr/>
        </p:nvSpPr>
        <p:spPr>
          <a:xfrm>
            <a:off x="3148200" y="1800000"/>
            <a:ext cx="28476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構造化テキスト</a:t>
            </a:r>
            <a:endParaRPr lang="en-US" sz="750"/>
          </a:p>
        </p:txBody>
      </p:sp>
      <p:sp>
        <p:nvSpPr>
          <p:cNvPr id="17" name="Shape 17"/>
          <p:cNvSpPr/>
          <p:nvPr/>
        </p:nvSpPr>
        <p:spPr>
          <a:xfrm>
            <a:off x="6067800" y="1420000"/>
            <a:ext cx="2847600" cy="56000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8"/>
          <p:cNvSpPr/>
          <p:nvPr/>
        </p:nvSpPr>
        <p:spPr>
          <a:xfrm>
            <a:off x="6067800" y="1420000"/>
            <a:ext cx="2847600" cy="3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Extractor ③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前週Spec抽出</a:t>
            </a:r>
            <a:endParaRPr lang="en-US" sz="900"/>
          </a:p>
        </p:txBody>
      </p:sp>
      <p:sp>
        <p:nvSpPr>
          <p:cNvPr id="19" name="Text 19"/>
          <p:cNvSpPr/>
          <p:nvPr/>
        </p:nvSpPr>
        <p:spPr>
          <a:xfrm>
            <a:off x="6067800" y="1800000"/>
            <a:ext cx="28476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→ テキスト</a:t>
            </a:r>
            <a:endParaRPr lang="en-US" sz="750"/>
          </a:p>
        </p:txBody>
      </p:sp>
      <p:sp>
        <p:nvSpPr>
          <p:cNvPr id="20" name="Line 20"/>
          <p:cNvSpPr/>
          <p:nvPr/>
        </p:nvSpPr>
        <p:spPr>
          <a:xfrm>
            <a:off x="1652400" y="1980000"/>
            <a:ext cx="0" cy="85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Line 21"/>
          <p:cNvSpPr/>
          <p:nvPr/>
        </p:nvSpPr>
        <p:spPr>
          <a:xfrm>
            <a:off x="4572000" y="1980000"/>
            <a:ext cx="0" cy="85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Line 22"/>
          <p:cNvSpPr/>
          <p:nvPr/>
        </p:nvSpPr>
        <p:spPr>
          <a:xfrm>
            <a:off x="7491600" y="1980000"/>
            <a:ext cx="0" cy="85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Line 23"/>
          <p:cNvSpPr/>
          <p:nvPr/>
        </p:nvSpPr>
        <p:spPr>
          <a:xfrm>
            <a:off x="1652400" y="2065000"/>
            <a:ext cx="5839200" cy="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Line 24"/>
          <p:cNvSpPr/>
          <p:nvPr/>
        </p:nvSpPr>
        <p:spPr>
          <a:xfrm>
            <a:off x="4572000" y="2065000"/>
            <a:ext cx="0" cy="13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5"/>
          <p:cNvSpPr/>
          <p:nvPr/>
        </p:nvSpPr>
        <p:spPr>
          <a:xfrm>
            <a:off x="228600" y="2205000"/>
            <a:ext cx="8686800" cy="470000"/>
          </a:xfrm>
          <a:prstGeom prst="roundRect">
            <a:avLst>
              <a:gd name="adj" fmla="val 30000"/>
            </a:avLst>
          </a:prstGeom>
          <a:solidFill>
            <a:srgbClr val="1B4A3A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6"/>
          <p:cNvSpPr/>
          <p:nvPr/>
        </p:nvSpPr>
        <p:spPr>
          <a:xfrm>
            <a:off x="228600" y="2205000"/>
            <a:ext cx="3300984" cy="4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事実抽出エージェント（LLM）</a:t>
            </a:r>
            <a:endParaRPr lang="en-US" sz="1050"/>
          </a:p>
        </p:txBody>
      </p:sp>
      <p:sp>
        <p:nvSpPr>
          <p:cNvPr id="27" name="Text 27"/>
          <p:cNvSpPr/>
          <p:nvPr/>
        </p:nvSpPr>
        <p:spPr>
          <a:xfrm>
            <a:off x="3529584" y="2205000"/>
            <a:ext cx="5385816" cy="4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議事録+WBS+YAML  ｜  OUT: 進捗報告・決定事項・発生トラブルの箇条書きファクト</a:t>
            </a:r>
            <a:endParaRPr lang="en-US" sz="850"/>
          </a:p>
        </p:txBody>
      </p:sp>
      <p:sp>
        <p:nvSpPr>
          <p:cNvPr id="28" name="Line 28"/>
          <p:cNvSpPr/>
          <p:nvPr/>
        </p:nvSpPr>
        <p:spPr>
          <a:xfrm>
            <a:off x="4572000" y="2675000"/>
            <a:ext cx="0" cy="14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9"/>
          <p:cNvSpPr/>
          <p:nvPr/>
        </p:nvSpPr>
        <p:spPr>
          <a:xfrm>
            <a:off x="228600" y="2815000"/>
            <a:ext cx="8686800" cy="4700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30"/>
          <p:cNvSpPr/>
          <p:nvPr/>
        </p:nvSpPr>
        <p:spPr>
          <a:xfrm>
            <a:off x="228600" y="2815000"/>
            <a:ext cx="3300984" cy="4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監査エージェント（LLM）</a:t>
            </a:r>
            <a:endParaRPr lang="en-US" sz="1050"/>
          </a:p>
        </p:txBody>
      </p:sp>
      <p:sp>
        <p:nvSpPr>
          <p:cNvPr id="31" name="Text 31"/>
          <p:cNvSpPr/>
          <p:nvPr/>
        </p:nvSpPr>
        <p:spPr>
          <a:xfrm>
            <a:off x="3529584" y="2815000"/>
            <a:ext cx="5385816" cy="4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事実ファクト+WBS+YAML  ｜  OUT: 遅延タスクID・沈黙タスクID・差分一覧</a:t>
            </a:r>
            <a:endParaRPr lang="en-US" sz="850"/>
          </a:p>
        </p:txBody>
      </p:sp>
      <p:sp>
        <p:nvSpPr>
          <p:cNvPr id="32" name="Line 32"/>
          <p:cNvSpPr/>
          <p:nvPr/>
        </p:nvSpPr>
        <p:spPr>
          <a:xfrm>
            <a:off x="4572000" y="3285000"/>
            <a:ext cx="0" cy="7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Line 33"/>
          <p:cNvSpPr/>
          <p:nvPr/>
        </p:nvSpPr>
        <p:spPr>
          <a:xfrm>
            <a:off x="1736190" y="3355000"/>
            <a:ext cx="4379400" cy="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Line 34"/>
          <p:cNvSpPr/>
          <p:nvPr/>
        </p:nvSpPr>
        <p:spPr>
          <a:xfrm>
            <a:off x="1736190" y="3355000"/>
            <a:ext cx="0" cy="13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Line 35"/>
          <p:cNvSpPr/>
          <p:nvPr/>
        </p:nvSpPr>
        <p:spPr>
          <a:xfrm>
            <a:off x="6115590" y="3355000"/>
            <a:ext cx="0" cy="13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6"/>
          <p:cNvSpPr/>
          <p:nvPr/>
        </p:nvSpPr>
        <p:spPr>
          <a:xfrm>
            <a:off x="228600" y="3495000"/>
            <a:ext cx="3015180" cy="540000"/>
          </a:xfrm>
          <a:prstGeom prst="roundRect">
            <a:avLst>
              <a:gd name="adj" fmla="val 30000"/>
            </a:avLst>
          </a:prstGeom>
          <a:solidFill>
            <a:srgbClr val="2D6A4F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7"/>
          <p:cNvSpPr/>
          <p:nvPr/>
        </p:nvSpPr>
        <p:spPr>
          <a:xfrm>
            <a:off x="228600" y="3495000"/>
            <a:ext cx="3015180" cy="5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知識検索（RAG）</a:t>
            </a:r>
            <a:endParaRPr lang="en-US" sz="950" dirty="0"/>
          </a:p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トラブル知見集 P-01～P-30</a:t>
            </a:r>
            <a:endParaRPr lang="en-US" sz="850"/>
          </a:p>
        </p:txBody>
      </p:sp>
      <p:sp>
        <p:nvSpPr>
          <p:cNvPr id="38" name="Arrow 38"/>
          <p:cNvSpPr/>
          <p:nvPr/>
        </p:nvSpPr>
        <p:spPr>
          <a:xfrm>
            <a:off x="3251780" y="3765000"/>
            <a:ext cx="560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9"/>
          <p:cNvSpPr/>
          <p:nvPr/>
        </p:nvSpPr>
        <p:spPr>
          <a:xfrm>
            <a:off x="3315780" y="3495000"/>
            <a:ext cx="5599620" cy="540000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40"/>
          <p:cNvSpPr/>
          <p:nvPr/>
        </p:nvSpPr>
        <p:spPr>
          <a:xfrm>
            <a:off x="3315780" y="3495000"/>
            <a:ext cx="5599620" cy="2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リスク専門家エージェント（LLM）</a:t>
            </a:r>
            <a:endParaRPr lang="en-US" sz="950"/>
          </a:p>
        </p:txBody>
      </p:sp>
      <p:sp>
        <p:nvSpPr>
          <p:cNvPr id="41" name="Text 41"/>
          <p:cNvSpPr/>
          <p:nvPr/>
        </p:nvSpPr>
        <p:spPr>
          <a:xfrm>
            <a:off x="3315780" y="3738000"/>
            <a:ext cx="5599620" cy="297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監査レポート+RAG結果  ｜  OUT: リスク分析・対策・逆質問</a:t>
            </a:r>
            <a:endParaRPr lang="en-US" sz="800"/>
          </a:p>
        </p:txBody>
      </p:sp>
      <p:sp>
        <p:nvSpPr>
          <p:cNvPr id="42" name="Line 42"/>
          <p:cNvSpPr/>
          <p:nvPr/>
        </p:nvSpPr>
        <p:spPr>
          <a:xfrm>
            <a:off x="6115590" y="4035000"/>
            <a:ext cx="0" cy="120000"/>
          </a:xfrm>
          <a:prstGeom prst="line">
            <a:avLst/>
          </a:prstGeom>
          <a:noFill/>
          <a:ln w="15875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3"/>
          <p:cNvSpPr/>
          <p:nvPr/>
        </p:nvSpPr>
        <p:spPr>
          <a:xfrm>
            <a:off x="228600" y="4155000"/>
            <a:ext cx="8686800" cy="31000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0">
            <a:noFill/>
          </a:ln>
          <a:effectLst>
            <a:outerShdw blurRad="50800" dist="200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4"/>
          <p:cNvSpPr/>
          <p:nvPr/>
        </p:nvSpPr>
        <p:spPr>
          <a:xfrm>
            <a:off x="228600" y="4155000"/>
            <a:ext cx="8686800" cy="3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|  コード実行 → Markdown変換 → 出力（監査レポート） ｜  F2への入力データ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F1 エージェント仕様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各LLMノードのシステムプロンプト・入出力定義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86319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1965960" cy="12435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事実抽出エージェント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プロジェクト事実抽出専門家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04288" y="109728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議事録テキスト + WBS CSV + 前週YAML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04288" y="133502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進捗報告・決定事項・発生トラブルの箇条書き（主観・感想は除外）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1591056"/>
            <a:ext cx="6492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304288" y="162763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プロンプト要旨: 議事録から「進捗報告」「決定事項」「発生トラブル」のみを客観的に抽出。後続の監査エージェントが判断しやすいよう整理する。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359152"/>
            <a:ext cx="86319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56032" y="2359152"/>
            <a:ext cx="1965960" cy="12435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20040" y="2414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6151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監査エージェント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017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冷徹・精密なプロジェクト監査官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04288" y="24323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事実ファクト + WBS（計画） + YAML（前週記憶）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04288" y="267004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遅延タスクID・進捗後退・沈黙タスク（言及なし）の一覧と差分レポート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2926080"/>
            <a:ext cx="6492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304288" y="296265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プロンプト要旨: 計画（CSV）・前回記憶（YAML）・今週事実（Text）の3点照合。遅延・進捗後退・沈黙タスクを特定。HW/SW混在プロジェクトに精通した視点で監査。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694176"/>
            <a:ext cx="86319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56032" y="3694176"/>
            <a:ext cx="1965960" cy="12435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2004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リスク専門家エージェント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3525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役割: PMO世界的エキスパート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04288" y="37673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監査レポート + RAG検索結果（過去の類似トラブル事例）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04288" y="400507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リスク分析・対策（手綱）・逆質問リスト・SoC特有の波及リスク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04288" y="4261104"/>
            <a:ext cx="6492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304288" y="42976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プロンプト要旨: 組織・工程・リソース・心理的安全性の観点から不確実性を分析。PMが今すぐ打つべき「手綱（対策）」と「逆質問」を提案。過去トラブルパターンを参照。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F1 RAG・出力ノード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知識検索ノードとMarkdown変換・依存プラグインの仕組み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41605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知識検索ノード（RAG）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463040"/>
            <a:ext cx="397764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" y="1499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クエリ入力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事実抽出エージェントの出力テキストを検索クエリとして使用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148840"/>
            <a:ext cx="3977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38912" y="2185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4048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trouble_knowledge_base_v1.md（P-01〜P-30 / 全30パターン）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397764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38912" y="2871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検索方式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090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意味的類似検索（Semantic Search）でトラブルパターンを特定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520440"/>
            <a:ext cx="3977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38912" y="3557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3776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類似度の高いトラブルパターン（兆候・波及リスク・AIへの教訓）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4206240"/>
            <a:ext cx="397764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活用方法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44622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リスク専門家エージェントがRAG結果を参照して分析精度を向上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3159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572000" y="1005840"/>
            <a:ext cx="431596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コード実行・Markdown出力ノード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4133088" cy="7863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36592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コード実行ノード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36592" y="179222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リスク専門家エージェントの出力テキスト（変数 arg1）を受け取り後処理スクリプトを実行する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331720"/>
            <a:ext cx="41330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736592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Markdown→MDノード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(md_exporter Plugin)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36592" y="266090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Marketplace プラグイン「bowenliang123/md_exporter v3.6.9」を使用。レポートをMarkdown形式で整形・エクスポートする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200400"/>
            <a:ext cx="4133088" cy="7863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736592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出力ノード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352958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最終的な監査レポートをユーザーに表示。F2ワークフローへの入力データとしても利用可能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4069080"/>
            <a:ext cx="413308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736592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依存プラグイン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36592" y="439826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・bowenliang123/md_exporter:3.6.9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・langgenius/cohere:0.0.12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・langgenius/openai:0.3.8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F2ワークフロー 全体フロー図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Optimizer — Difyノード構成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8686800" cy="402336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|  ユーザー入力（F1レポート・YAML・WBS CSV・今週の週報 の4ファイル）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52728" y="1426464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465576" y="1426464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87568" y="1426464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900416" y="1426464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28600" y="1609344"/>
            <a:ext cx="2103120" cy="5943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01752" y="160934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先週までの進捗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Extractor)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1752" y="201168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YAML読み込み・構造化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41448" y="1609344"/>
            <a:ext cx="2103120" cy="5943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514600" y="160934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PMアドバイス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Extractor)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201168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F1レポート読み込み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1609344"/>
            <a:ext cx="2103120" cy="5943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36592" y="160934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WBSベースライン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Extractor)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01168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CSV読み込み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76288" y="1609344"/>
            <a:ext cx="2103120" cy="5943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949440" y="160934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今週の週報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Extractor)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49440" y="201168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週報テキスト読み込み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2203704"/>
            <a:ext cx="0" cy="109728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493008" y="2203704"/>
            <a:ext cx="0" cy="109728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715000" y="2203704"/>
            <a:ext cx="0" cy="109728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927848" y="2203704"/>
            <a:ext cx="0" cy="109728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280160" y="2313432"/>
            <a:ext cx="7699248" cy="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828800" y="2313432"/>
            <a:ext cx="0" cy="164592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583680" y="2313432"/>
            <a:ext cx="0" cy="164592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28600" y="2478024"/>
            <a:ext cx="3154680" cy="49377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20040" y="247802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基準日抽出エージェント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入力文書から再計画基準日をYYYY-MM-DD形式で特定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20440" y="2478024"/>
            <a:ext cx="5394960" cy="493776"/>
          </a:xfrm>
          <a:prstGeom prst="roundRect">
            <a:avLst>
              <a:gd name="adj" fmla="val 3000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3611880" y="2478024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変数集約器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各Document Extractorの出力を1つの変数ブロックに統合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971800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228600" y="3154680"/>
            <a:ext cx="8686800" cy="566928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347472" y="31546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スケジュール調整エージェント（LLM）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0" y="31546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WBS+YAML+F1レポート  ｜  OUT: Plan A（納期厳守）/ Plan B（品質重視）/ Plan C（リソース最適化）の3案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721608"/>
            <a:ext cx="0" cy="18288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1600200" y="3904488"/>
            <a:ext cx="5943600" cy="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600200" y="3904488"/>
            <a:ext cx="0" cy="13716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7543800" y="3904488"/>
            <a:ext cx="0" cy="137160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228600" y="4041648"/>
            <a:ext cx="4069080" cy="475488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320040" y="40416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2（Mermaid Gantt変換）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のみ Mermaid Gantt 形式に自動変換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4041648"/>
            <a:ext cx="4480560" cy="475488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4526280" y="40416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PM判断エージェント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案A/B/Cを5軸評価し推奨案をPMに提示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4517136"/>
            <a:ext cx="0" cy="164592"/>
          </a:xfrm>
          <a:prstGeom prst="line">
            <a:avLst/>
          </a:prstGeom>
          <a:noFill/>
          <a:ln w="19050">
            <a:solidFill>
              <a:srgbClr val="14A9A8"/>
            </a:solidFill>
            <a:prstDash val="solid"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228600" y="4681728"/>
            <a:ext cx="8686800" cy="3291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347472" y="4681728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PM採用判断（HITL: Human-In-The-Loop）→ 採用案WBS化エージェント → 改訂WBS出力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　F2 エージェント仕様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各LLMノードのプロンプト・入出力仕様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0607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Agent 1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スケジュール調整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069848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WBS（依存関係マスター）＋YAML（真の進捗率）＋F1レポート（修正指示書）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2148840" y="1280160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Plan A（納期厳守）/ Plan B（品質重視）/ Plan C（リソース最適化）の3案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148840" y="1517904"/>
            <a:ext cx="6611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148840" y="1554480"/>
            <a:ext cx="6629400" cy="329184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詳細: ①基準日特定 ②進捗同期（YAML→WBS反映） ③F1指摘適用（T005リセット等） ④依存関係再計算 ⑤3案スケジュール生成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56032" y="2011680"/>
            <a:ext cx="8631936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56032" y="201168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20040" y="20665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Agent 2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32004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2</a:t>
            </a:r>
          </a:p>
          <a:p>
            <a:pPr marL="0" indent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（Mermaid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Gantt変換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075688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スケジュール調整エージェントの出力（Plan A/B/C）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2148840" y="2286000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Plan A のみ Mermaid Gantt 形式で出力（コードブロック・説明文なし）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2148840" y="2523744"/>
            <a:ext cx="6611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148840" y="2560320"/>
            <a:ext cx="6629400" cy="329184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詳細: 厳守ルール: ganttで始まる / dateFormat・axisFormat必須 / Plan B/C含まない / タスク名に特殊記号不使用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56032" y="3017520"/>
            <a:ext cx="8631936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256032" y="301752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20040" y="3072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Agent 3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320040" y="32735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PM判断エージェント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2148840" y="3081528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スケジュール調整エージェントの出力（Plan A/B/C）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2148840" y="3291840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5軸比較表＋PMへの推奨判断（条件付き推奨も含む）＋次アクション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2148840" y="3529584"/>
            <a:ext cx="6611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148840" y="3566160"/>
            <a:ext cx="6629400" cy="329184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詳細: 評価軸: ①納期影響 ②品質・安全性 ③コスト・リソース影響 ④実行可能性 ⑤ステークホルダー説明容易性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256032" y="4023360"/>
            <a:ext cx="8631936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56032" y="402336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20040" y="4078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Agent 4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320040" y="42793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採用案WBS化エージェント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2148840" y="4087368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PM選択アクションID＋3案＋PM判断サマリー＋基準日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2148840" y="4297680"/>
            <a:ext cx="6629400" cy="201168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採用Planのみの具体的改訂WBS（CSV形式）＋PM確認ポイント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2148840" y="4535424"/>
            <a:ext cx="6611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2148840" y="4572000"/>
            <a:ext cx="6629400" cy="329184"/>
          </a:xfrm>
          <a:prstGeom prst="rect">
            <a:avLst/>
          </a:prstGeom>
          <a:noFill/>
          <a:ln/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詳細: PMが選択したaction_1/2/3に対応するPlan A/B/Cのみを具体化。不明点は合理的仮定で補完しPM確認ポイントに記載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　F1 → F2 データフロー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2つのワークフロー間のデータ受け渡しと全体処理フロー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3840480" cy="3931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Risk Orchestrator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347472" y="1408176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ユーザー入力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（議事録・WBS・YAML）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52D49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Document Extractor ×3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（並列ファイル解析）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47472" y="2249424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1480" y="2249424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事実抽出エージェント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（会議ファクト抽出）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47472" y="2670048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52D49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監査エージェント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（3点照合・差分検出）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47472" y="3090672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11480" y="3090672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知識検索（RAG）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（類似トラブル抽出）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47472" y="3511296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52D49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11480" y="3511296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リスク専門家エージェント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（対策・逆質問生成）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47472" y="3931920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635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3493008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コード実行→MD変換→出力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133088" y="2560320"/>
            <a:ext cx="914400" cy="5943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33088" y="2560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A4A"/>
                </a:solidFill>
              </a:rPr>
              <a:t>F1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B2A4A"/>
                </a:solidFill>
              </a:rPr>
              <a:t>出力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B2A4A"/>
                </a:solidFill>
              </a:rPr>
              <a:t>↓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133088" y="3246120"/>
            <a:ext cx="914400" cy="1645920"/>
          </a:xfrm>
          <a:prstGeom prst="roundRect">
            <a:avLst>
              <a:gd name="adj" fmla="val 15000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133088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A4A"/>
                </a:solidFill>
              </a:rPr>
              <a:t>受渡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1B2A4A"/>
                </a:solidFill>
              </a:rPr>
              <a:t>データ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4160520" y="35661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・監査レポート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(Markdown)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・遅延タスクID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・リスク指摘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・対策リスト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5102352" y="987552"/>
            <a:ext cx="3813048" cy="3931920"/>
          </a:xfrm>
          <a:prstGeom prst="roundRect">
            <a:avLst>
              <a:gd name="adj" fmla="val 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93792" y="1005840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Schedule Optimizer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5212080" y="1408176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A6E6D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276088" y="1408176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ユーザー入力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（F1レポート・YAML・WBS・週報）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212080" y="1828800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96160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276088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Document Extractor ×4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（並列ファイル解析）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5212080" y="2249424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A6E6D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276088" y="2249424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基準日抽出エージェント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変数集約器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5212080" y="2670048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96160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276088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スケジュール調整エージェント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（A/B/C案生成）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5212080" y="3090672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A6E6D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276088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Mermaid Gantt変換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PM判断エージェント（並列）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5212080" y="3511296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96160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276088" y="3511296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PM採用判断（HITL）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5212080" y="3931920"/>
            <a:ext cx="3593592" cy="365760"/>
          </a:xfrm>
          <a:prstGeom prst="roundRect">
            <a:avLst>
              <a:gd name="adj" fmla="val 20000"/>
            </a:avLst>
          </a:prstGeom>
          <a:solidFill>
            <a:srgbClr val="0A6E6D"/>
          </a:solidFill>
          <a:ln w="6350">
            <a:solidFill>
              <a:srgbClr val="0E8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276088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採用案WBS化エージェント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改訂WBS出力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228600" y="4956048"/>
            <a:ext cx="86868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320040" y="495604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F1の「監査レポート（Markdown）」がF2の「PMアドバイス入力」として使用される。手動でのファイル受け渡しが現在の運用フロー。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　データ構成表：WBS CSV（wbs_csv.txt）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WBSファイルの列定義・データ型・制約・実データサンプル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0972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列名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53312" y="1005840"/>
            <a:ext cx="8229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89888" y="100584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データ型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005840"/>
            <a:ext cx="4572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212848" y="1005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33472" y="1005840"/>
            <a:ext cx="34747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670048" y="10058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説明・制約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08192" y="1005840"/>
            <a:ext cx="26517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144768" y="1005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298448"/>
            <a:ext cx="1097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92608" y="129844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53312" y="129844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89888" y="12984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76272" y="129844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212848" y="12984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33472" y="1298448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670048" y="12984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タスクID。T001〜T999形式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08192" y="1298448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144768" y="12984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T001, T005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166420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92608" y="16642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53312" y="166420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389888" y="16642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76272" y="1664208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21284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33472" y="166420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670048" y="16642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タスク名（日本語可）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08192" y="166420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144768" y="16642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OAuth認可コード実装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2029968"/>
            <a:ext cx="1097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292608" y="202996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53312" y="202996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389888" y="20299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76272" y="202996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212848" y="2029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33472" y="2029968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2670048" y="20299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/ design / implementation / test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08192" y="2029968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144768" y="2029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39572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292608" y="239572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53312" y="239572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1389888" y="23957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176272" y="2395728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2212848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633472" y="239572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670048" y="23957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担当者名（日本語）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08192" y="239572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144768" y="23957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鈴木, 内藤, 佐藤, 田中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2761488"/>
            <a:ext cx="1097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292608" y="276148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53312" y="276148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1389888" y="27614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76272" y="276148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2212848" y="2761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633472" y="2761488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2670048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開始日 YYYY-MM-DD形式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108192" y="2761488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6144768" y="276148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2026-05-14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31272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292608" y="312724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duration_days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353312" y="312724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1389888" y="31272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176272" y="3127248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2212848" y="3127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633472" y="312724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2670048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作業日数（0より大）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08192" y="312724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144768" y="31272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3493008"/>
            <a:ext cx="1097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292608" y="3493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progress_pct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353312" y="349300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1389888" y="34930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176272" y="349300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2212848" y="34930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633472" y="3493008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2670048" y="3493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進捗率 0〜100の整数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08192" y="3493008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6144768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0, 70, 100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56032" y="385876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292608" y="385876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353312" y="385876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1389888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176272" y="3858768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Text 89"/>
          <p:cNvSpPr/>
          <p:nvPr/>
        </p:nvSpPr>
        <p:spPr>
          <a:xfrm>
            <a:off x="2212848" y="3858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633472" y="385876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2670048" y="38587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依存タスクID（カンマ区切り・引用符で囲む）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108192" y="385876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93"/>
          <p:cNvSpPr/>
          <p:nvPr/>
        </p:nvSpPr>
        <p:spPr>
          <a:xfrm>
            <a:off x="6144768" y="38587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"T002,T003"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56032" y="4224528"/>
            <a:ext cx="1097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/>
          <p:cNvSpPr/>
          <p:nvPr/>
        </p:nvSpPr>
        <p:spPr>
          <a:xfrm>
            <a:off x="292608" y="422452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353312" y="4224528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Text 97"/>
          <p:cNvSpPr/>
          <p:nvPr/>
        </p:nvSpPr>
        <p:spPr>
          <a:xfrm>
            <a:off x="1389888" y="42245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176272" y="4224528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99"/>
          <p:cNvSpPr/>
          <p:nvPr/>
        </p:nvSpPr>
        <p:spPr>
          <a:xfrm>
            <a:off x="2212848" y="4224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633472" y="4224528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3" name="Text 101"/>
          <p:cNvSpPr/>
          <p:nvPr/>
        </p:nvSpPr>
        <p:spPr>
          <a:xfrm>
            <a:off x="2670048" y="42245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/ in_progress / not_started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108192" y="4224528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Text 103"/>
          <p:cNvSpPr/>
          <p:nvPr/>
        </p:nvSpPr>
        <p:spPr>
          <a:xfrm>
            <a:off x="6144768" y="42245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not_started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256032" y="4617720"/>
            <a:ext cx="8631936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Text 105"/>
          <p:cNvSpPr/>
          <p:nvPr/>
        </p:nvSpPr>
        <p:spPr>
          <a:xfrm>
            <a:off x="365760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実データサンプル（wbs_csv.txt より抜粋）: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T005,OAuth認可コード実装,implementation,鈴木,2026-05-14,8,0,"T002,T003",not_started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　データ構成表：spec_yaml.yaml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YAMLファイルのキー構造・データ型・役割・実データ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502920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50292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キー構造と役割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84048" y="14081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project_metadata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920240" y="1408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33472" y="1408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44368" y="1408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プロジェクト基本情報（name, version, last_updated, pm）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68249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" y="16824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.name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20240" y="16824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33472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44368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プロジェクト名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195681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" y="19568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.version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20240" y="19568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33472" y="1956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44368" y="1956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バージョン番号（例: 1.0.2）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23113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84048" y="22311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.last_updated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20240" y="22311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33472" y="2231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44368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最終更新日 YYYY-MM-DD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84048" y="2505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.pm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20240" y="25054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33472" y="25054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44368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プロジェクトマネージャー名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77977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84048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20240" y="27797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33472" y="27797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44368" y="2779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各タスクの現在の進捗状態リスト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305409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84048" y="30540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[].id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920240" y="30540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33472" y="30540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44368" y="3054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タスクID（WBS CSVのidと一致）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332841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384048" y="33284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[].status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920240" y="33284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33472" y="33284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944368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/ in_progress / not_started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0040" y="360273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384048" y="3602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[].progress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920240" y="36027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33472" y="36027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44368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進捗率 0〜100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387705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384048" y="38770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[].assignee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20240" y="38770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633472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944368" y="3877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担当者名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0040" y="415137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384048" y="4151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[].completed_at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920240" y="4151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633472" y="4151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944368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完了日 YYYY-MM-DD（doneの場合）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20040" y="4425696"/>
            <a:ext cx="4892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384048" y="4425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[].note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920240" y="44256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33472" y="44256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944368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特記事項・メモ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20040" y="4700016"/>
            <a:ext cx="489204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384048" y="47000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920240" y="4700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633472" y="4700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944368" y="4700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変更履歴（version, date, changes）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440680" y="1005840"/>
            <a:ext cx="3447288" cy="4005072"/>
          </a:xfrm>
          <a:prstGeom prst="rect">
            <a:avLst/>
          </a:prstGeom>
          <a:solidFill>
            <a:srgbClr val="1E293B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5440680" y="1005840"/>
            <a:ext cx="3447288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5532120" y="100584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実データ（spec_yaml.yaml）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532120" y="1389888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project_metadata: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name: "認証システムセキュリティ改善"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version: "1.0.2"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last_updated: "2026-05-11"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pm: "内藤 睦博"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id: T001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status: "done"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progress: 100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completed_at: "2026-05-11"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id: T002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status: "in_progress"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progress: 80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assignee: "鈴木"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id: T003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status: "in_progress"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progress: 70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assignee: "鈴木"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id: T004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status: "not_started"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assignee: "内藤"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note: "5/14までに骨子作成予定"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version: "1.0.2"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date: "2026-05-11"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changes: "要件定義完了"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　データ構成表：議事録テキスト（meeting_minutes_*.txt）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7040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議事録ファイルの構造・必須セクション・実データサンプル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05256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38328" y="9052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推奨構造・必須セクション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307592"/>
            <a:ext cx="4005072" cy="10104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92608" y="1307592"/>
            <a:ext cx="50292" cy="10104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11480" y="1344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ヘッダー情報（必須）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5453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・プロジェクト名（第N回）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6931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・日時（YYYY年MM月DD日）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8486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・場所（オンライン/対面）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9888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・参加者（役割付き）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351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・書記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334006"/>
            <a:ext cx="4005072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92608" y="2334006"/>
            <a:ext cx="54864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11480" y="237058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議事次第（推奨）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257175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・議題リスト（箇条書き）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2871596"/>
            <a:ext cx="4005072" cy="890397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94856" y="2862848"/>
            <a:ext cx="45719" cy="89914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1480" y="285521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会議詳細（必須）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05638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・発言者ごとの進捗報告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218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・タスクIDを含む具体的な状況報告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37642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・発生トラブル・課題の記載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5463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・数値・日付を含む具体的情報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2608" y="3805047"/>
            <a:ext cx="4005072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292608" y="3805047"/>
            <a:ext cx="54864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11480" y="384162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決定事項（必須）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4042791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・変更・合意した事項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243959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・新規タスクの追加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2608" y="4508373"/>
            <a:ext cx="4005072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292608" y="4508373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1480" y="4544949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アクションアイテム（必須）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4746117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・担当者・期限・内容を明記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1005840"/>
            <a:ext cx="4315968" cy="4005072"/>
          </a:xfrm>
          <a:prstGeom prst="rect">
            <a:avLst/>
          </a:prstGeom>
          <a:solidFill>
            <a:srgbClr val="1E293B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572000" y="1005840"/>
            <a:ext cx="4315968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66344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実データ（meeting_minutes_20260518.txt 抜粋）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1389888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プロジェクト週報会議：認証システムセキュリティ改善（第3回）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日時：2026年05月18日（月） 10:00 - 11:15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参加者：内藤（PM）、鈴木（BE）、佐藤（FE）、田中（Infra）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【進捗・重大トラブル】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鈴木（BE）: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T005（OAuth認可コード実装）について、採用していた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OSSライブラリ「PyAuth-Secure」にCVE-2026-9999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が公表。バージョンアップでAPIシグネチャが変更され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るため実装をリセット。3日間の遅延を見込む。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T006（CSRF防御ロジック）は前倒しで完了・PR提出済。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田中（Infra）: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T007支援に回るためT008が2日後ろ倒しになる見込み。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内藤（PM）: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T004（MFA設計）は出張のため全く未着手だった。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今日中にドラフトを作成しレビューに回す。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【新規決定事項】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・移行テスト項目を新規タスクとして追加（佐藤担当/5/22期限）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【アクションアイテム】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・内藤：T004ドラフト（本日中）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・鈴木：新仕様共有（来週月曜）</a:t>
            </a:r>
            <a:endParaRPr lang="en-US" sz="700" dirty="0"/>
          </a:p>
          <a:p>
            <a:pPr marL="0" indent="0">
              <a:buNone/>
            </a:pPr>
            <a:r>
              <a:rPr lang="en-US" sz="7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・佐藤：移行テスト起票（5/22）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　ナレッジベース仕様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trouble_knowledge_base_v1.md — RAG用トラブル知見集（全30パターン）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871216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47472" y="1005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仕様・要件定義の地雷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P-01〜P-04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形容詞による仕様曖昧化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インターフェース型の認識齟齬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スコープクリープ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不在者の合意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2871216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310128" y="1005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技術・外部依存の罠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68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P-05〜P-08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28416" y="142646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OSSサイレントアップデート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テスト環境・ライセンス競合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シミュレーション・実機不一致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APIの破壊的変更見落とし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81344" y="100584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81344" y="1005840"/>
            <a:ext cx="2871216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272784" y="1005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組織・ヒューマンリスク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50224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P-09〜P-12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91072" y="142646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Factor（タスク集中）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沈黙のリスク（報告欠如）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心理的安全性低下による隠蔽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ナレッジ属人化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56032" y="2880360"/>
            <a:ext cx="2871216" cy="3657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47472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スケジュール進捗シグナル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P-13〜P-15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330098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90%完了シンドローム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バッファの食いつぶし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楽観的な完了予告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288036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218688" y="2880360"/>
            <a:ext cx="2871216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310128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品質・テストの盲点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8756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P-16〜P-20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28416" y="330098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回帰テスト軽視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エッジケース無視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本番環境との差異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テストシナリオ網羅不足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レビュー形骸化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81344" y="2880360"/>
            <a:ext cx="287121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181344" y="2880360"/>
            <a:ext cx="287121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272784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追加パターン（拡張）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50224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P-21〜P-30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91072" y="3300984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コミュニケーションサイロ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ベンダーロックイン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AIへの過信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ロールバック欠如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監視・ロギング不足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意思決定権者急変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GPUリソース枯渇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ドキュメント鮮度低下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コンプライアンス不整合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非効率会議文化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FFF3CD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347472" y="4828032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各パターン構成：「兆候（Symptom）」「波及リスク（Impact）」「AIへの教訓（AI Lesson）」の3要素。リスク専門家エージェントの判断基準として活用。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　出力仕様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F1・F2 各エージェントが生成するアウトプットの形式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4315968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47472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F1出力①：事実ファクト（事実抽出エージェント）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Markdown 箇条書き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【進捗報告】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・T001: 完了（5/11部長承認）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・T002: OAuth設計 80%進捗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【決定事項】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・T004 MFA設計: 5/14骨子共有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【発生トラブル】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・T005: CVE-2026-9999 → 3日遅延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0016" y="1005840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700016" y="1005840"/>
            <a:ext cx="43159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91456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F1出力②：監査レポート（監査エージェント）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1456" y="13533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Markdown 構造化レポート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91456" y="153619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【遅延タスク】T005（80%→0%実質後退）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【沈黙タスク】T004/T006/T007/T009/T010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【リスク】T005依存のT009/T010が連鎖遅延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【追加タスク】移行テスト（WBS外・変更管理未通過）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395728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56032" y="2395728"/>
            <a:ext cx="4315968" cy="31089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47472" y="23957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F1出力③：リスクレポート（リスク専門家エージェント）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74320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Markdown（md_exporter出力）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9260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【手綱（対策）】T005リセット確認/T004即着手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【逆質問】①T005 API変更で何が壊れるか？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②T007/T009/T010の現状は？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【RAG参照】P-05(サイレントアップデート) / P-10(沈黙)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0016" y="2395728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700016" y="2395728"/>
            <a:ext cx="4315968" cy="3108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791456" y="23957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F2出力①：スケジュール修正案（スケジュール調整）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1456" y="274320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Markdown 3案比較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91456" y="29260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A（納期厳守）: T005並行化/バッファ削減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B（品質重視）: T005工数再確保/後続後ろ倒し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C（リソース最適化）: 優先タスク絞込/段階リリース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3785616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256032" y="3785616"/>
            <a:ext cx="4315968" cy="3108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47472" y="37856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F2出力②：Mermaid Ganttチャート（LLM 2）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413308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Mermaid gantt 形式テキスト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3159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 Plan A 見直しスケジュール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dateFormat  YYYY-MM-DD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axisFormat  %m/%d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T005再実装 : 2026-05-18, 8d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0016" y="3785616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700016" y="3785616"/>
            <a:ext cx="4315968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791456" y="37856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F2出力③：改訂WBS（採用案WBS化エージェント）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413308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CSV形式テキスト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91456" y="43159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id,name,assignee,start_date,duration_days,status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T005,OAuth認可コード再実装,鈴木,2026-05-18,8,in_progress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T009,リフレッシュトークン実装,鈴木,2026-05-28,5,not_started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　リスク分析結果サマリー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現在のプロジェクト状況と検出リスク（2026-05-18時点）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32918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47472" y="1005840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CRITICAL: T005の実質後退（80%→0%）＋後続タスクの連鎖遅延リスクが同時進行中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408176"/>
            <a:ext cx="8631936" cy="676656"/>
          </a:xfrm>
          <a:prstGeom prst="rect">
            <a:avLst/>
          </a:prstGeom>
          <a:solidFill>
            <a:srgbClr val="FFF8F8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56032" y="1408176"/>
            <a:ext cx="749808" cy="676656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56032" y="14447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6032" y="17556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0704" y="14538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OAuth認可コード実装リセット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7190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CVE-2026-9999対応でライブラリ変更→API破壊的変更→実質0%リセット。T009/T010の前提崩壊。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13632" y="146304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05072" y="1453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参照: P-05 サイレントアップデート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05072" y="16824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①リセット範囲を再実装vs修正で精査　②影響範囲調査タスクを追加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56032" y="2139696"/>
            <a:ext cx="8631936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56032" y="2139696"/>
            <a:ext cx="749808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56032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24871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0704" y="21854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MFA基盤設計の沈黙リスク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" y="24505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PM出張で全く未着手。5/14骨子共有の期日を既に超過。誰もフォローできていない状態。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13632" y="219456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005072" y="21854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参照: P-10 沈黙のリスク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05072" y="24140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①本日中にドラフト作成（PM自身）　②翌日レビュー回し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256032" y="2871216"/>
            <a:ext cx="8631936" cy="676656"/>
          </a:xfrm>
          <a:prstGeom prst="rect">
            <a:avLst/>
          </a:prstGeom>
          <a:solidFill>
            <a:srgbClr val="FFF8F8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256032" y="2871216"/>
            <a:ext cx="749808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256032" y="29077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032" y="3218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0704" y="29169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監査ログ基盤の後ろ倒し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0704" y="31821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田中がT007支援に移行→T008が実質抑制。ログ基盤なし＝障害追跡不能・セキュリティレビュー説明不可。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13632" y="292608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005072" y="29169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参照: P-25 監視・ロギング不足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05072" y="31455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①後ろ倒し期限を明確化　②最低限のログ要件を先行定義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0" y="292608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256032" y="3602736"/>
            <a:ext cx="8631936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256032" y="3602736"/>
            <a:ext cx="7498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256032" y="36393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6032" y="39502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0704" y="36484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移行テスト項目の追加（WBS外）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60704" y="39136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正式変更管理未通過。佐藤の工数増加。既存タスクとの競合で品質低下の恐れ。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13632" y="365760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005072" y="3648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参照: P-03 スコープクリープ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05072" y="3877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①WBSに正式登録　②既存タスクとのトレードオフを明文化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0" y="365760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256032" y="4334256"/>
            <a:ext cx="8631936" cy="676656"/>
          </a:xfrm>
          <a:prstGeom prst="rect">
            <a:avLst/>
          </a:prstGeom>
          <a:solidFill>
            <a:srgbClr val="FFF8F8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256032" y="4334256"/>
            <a:ext cx="7498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256032" y="4370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6032" y="46817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T009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60704" y="43799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後続タスクの沈黙（連鎖遅延リスク）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60704" y="46451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T005依存のため依存待ち状態と推測されるが報告なし。依存待ち/停止/未着手の状態不明。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913632" y="438912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4005072" y="43799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参照: P-10 沈黙のリスク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05072" y="46085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①今週中に状態確認（1件ずつ明確化）　②並行可能作業の特定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00800" y="438912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　運用ガイドライン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週次実行手順・拡張方針・保守運用注意事項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週次実行フロー（推奨手順）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397764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47472" y="1408176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32688" y="1453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会議後：議事録作成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1682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 手動で.txtを作成。参加者・決定事項・AIを必ず含める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993392"/>
            <a:ext cx="39776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1993392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47472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32688" y="20391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F1実行：リスク分析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22677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①議事録 ②WBS CSV ③前週YAML の3ファイルをアップロード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2578608"/>
            <a:ext cx="397764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47472" y="2578608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47472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32688" y="2624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F1出力確認・PMレビュー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2688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遅延・沈黙タスク・逆質問リストをPMがレビュー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3163824"/>
            <a:ext cx="39776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47472" y="3163824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47472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2688" y="3209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F2実行：スケジュール最適化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34381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F1レポート＋最新YAML＋WBS＋今週の週報を入力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3749040"/>
            <a:ext cx="397764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47472" y="3749040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47472" y="3749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32688" y="37947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PM採用判断（HITL）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32688" y="4023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A/B/C案の比較表を確認し採用案を action_1/2/3 で選択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7472" y="4334256"/>
            <a:ext cx="39776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47472" y="4334256"/>
            <a:ext cx="530352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347472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32688" y="43799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改訂WBSをYAMLに反映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2688" y="46085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採用案の改訂WBSを次週のspec_yaml.yamlに反映して保存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1005840"/>
            <a:ext cx="431596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4572000" y="1005840"/>
            <a:ext cx="4315968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681728" y="100584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拡張方針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1408176"/>
            <a:ext cx="4133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Slack/Teams通知: F1出力を自動通知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Jira連携: 検出タスクを自動起票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ナレッジベース拡充: P-31以降を追記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多プロジェクト対応: WBSスキーマ標準化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LLMモデル切替: Cohere / OpenAI / その他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035808"/>
            <a:ext cx="4315968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4572000" y="3035808"/>
            <a:ext cx="431596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681728" y="303580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保守・運用注意事項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81728" y="3438144"/>
            <a:ext cx="4133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YAMLは毎週末に必ず更新（前週記憶として機能）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CSVのdependenciesは厳密に管理する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ナレッジベースはPJ終了後に振り返り追記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F1→F2のデータ受け渡しは手動コピー（現状）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Workflow v0.6.0（定期アップデート確認）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　WBSデータ一覧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全タスクの詳細テーブル（wbs_csv.txt）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75488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005840"/>
            <a:ext cx="2029968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61488" y="1005840"/>
            <a:ext cx="71323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79776" y="10058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566928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93008" y="10058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41648" y="1005840"/>
            <a:ext cx="566928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59936" y="10058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1005840"/>
            <a:ext cx="4572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0058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65776" y="1005840"/>
            <a:ext cx="4572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084064" y="10058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22976" y="1005840"/>
            <a:ext cx="8229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541264" y="1005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45936" y="1005840"/>
            <a:ext cx="932688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364224" y="10058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1280160"/>
            <a:ext cx="47548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74320" y="12801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1280160"/>
            <a:ext cx="20299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12801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要件定義・全体Spec作成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61488" y="1280160"/>
            <a:ext cx="7132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779776" y="128016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0" y="128016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493008" y="12801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内藤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41648" y="128016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059936" y="12801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08576" y="128016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626864" y="12801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5日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65776" y="128016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084064" y="12801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22976" y="128016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541264" y="12801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45936" y="1280160"/>
            <a:ext cx="932688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364224" y="128016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1645920"/>
            <a:ext cx="4754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274320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1645920"/>
            <a:ext cx="20299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749808" y="16459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OAuth2.0プロトコル設計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61488" y="1645920"/>
            <a:ext cx="7132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2779776" y="164592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474720" y="164592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3493008" y="16459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041648" y="164592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4059936" y="16459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08576" y="164592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626864" y="16459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65776" y="164592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5084064" y="16459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22976" y="164592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5541264" y="164592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45936" y="1645920"/>
            <a:ext cx="932688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364224" y="16459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2011680"/>
            <a:ext cx="47548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274320" y="20116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31520" y="2011680"/>
            <a:ext cx="20299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749808" y="20116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セキュリティDBスキーマ設計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61488" y="2011680"/>
            <a:ext cx="7132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2779776" y="201168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74720" y="201168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3493008" y="20116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41648" y="201168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4059936" y="20116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608576" y="201168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4626864" y="20116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65776" y="201168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5084064" y="20116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522976" y="201168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5541264" y="201168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345936" y="2011680"/>
            <a:ext cx="932688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6364224" y="201168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6032" y="2377440"/>
            <a:ext cx="4754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274320" y="23774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1520" y="2377440"/>
            <a:ext cx="20299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749808" y="2377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MFA(多要素認証)基盤設計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761488" y="2377440"/>
            <a:ext cx="7132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2779776" y="237744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474720" y="237744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3493008" y="2377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内藤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041648" y="237744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4059936" y="2377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05/08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608576" y="237744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4626864" y="237744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065776" y="237744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Text 89"/>
          <p:cNvSpPr/>
          <p:nvPr/>
        </p:nvSpPr>
        <p:spPr>
          <a:xfrm>
            <a:off x="5084064" y="237744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522976" y="237744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5541264" y="237744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345936" y="237744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93"/>
          <p:cNvSpPr/>
          <p:nvPr/>
        </p:nvSpPr>
        <p:spPr>
          <a:xfrm>
            <a:off x="6364224" y="237744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56032" y="2743200"/>
            <a:ext cx="47548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/>
          <p:cNvSpPr/>
          <p:nvPr/>
        </p:nvSpPr>
        <p:spPr>
          <a:xfrm>
            <a:off x="274320" y="27432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31520" y="2743200"/>
            <a:ext cx="20299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Text 97"/>
          <p:cNvSpPr/>
          <p:nvPr/>
        </p:nvSpPr>
        <p:spPr>
          <a:xfrm>
            <a:off x="749808" y="27432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OAuth認可コード実装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761488" y="2743200"/>
            <a:ext cx="7132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99"/>
          <p:cNvSpPr/>
          <p:nvPr/>
        </p:nvSpPr>
        <p:spPr>
          <a:xfrm>
            <a:off x="2779776" y="274320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474720" y="274320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3" name="Text 101"/>
          <p:cNvSpPr/>
          <p:nvPr/>
        </p:nvSpPr>
        <p:spPr>
          <a:xfrm>
            <a:off x="3493008" y="27432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041648" y="274320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Text 103"/>
          <p:cNvSpPr/>
          <p:nvPr/>
        </p:nvSpPr>
        <p:spPr>
          <a:xfrm>
            <a:off x="4059936" y="27432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05/14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608576" y="274320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Text 105"/>
          <p:cNvSpPr/>
          <p:nvPr/>
        </p:nvSpPr>
        <p:spPr>
          <a:xfrm>
            <a:off x="4626864" y="27432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8日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065776" y="274320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9" name="Text 107"/>
          <p:cNvSpPr/>
          <p:nvPr/>
        </p:nvSpPr>
        <p:spPr>
          <a:xfrm>
            <a:off x="5084064" y="27432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522976" y="274320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1" name="Text 109"/>
          <p:cNvSpPr/>
          <p:nvPr/>
        </p:nvSpPr>
        <p:spPr>
          <a:xfrm>
            <a:off x="5541264" y="27432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T002,T003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345936" y="274320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Text 111"/>
          <p:cNvSpPr/>
          <p:nvPr/>
        </p:nvSpPr>
        <p:spPr>
          <a:xfrm>
            <a:off x="6364224" y="27432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56032" y="3108960"/>
            <a:ext cx="4754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Text 113"/>
          <p:cNvSpPr/>
          <p:nvPr/>
        </p:nvSpPr>
        <p:spPr>
          <a:xfrm>
            <a:off x="274320" y="31089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T006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31520" y="3108960"/>
            <a:ext cx="20299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Text 115"/>
          <p:cNvSpPr/>
          <p:nvPr/>
        </p:nvSpPr>
        <p:spPr>
          <a:xfrm>
            <a:off x="749808" y="3108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CSRF防御ロジック実装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761488" y="3108960"/>
            <a:ext cx="7132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Text 117"/>
          <p:cNvSpPr/>
          <p:nvPr/>
        </p:nvSpPr>
        <p:spPr>
          <a:xfrm>
            <a:off x="2779776" y="310896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474720" y="310896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1" name="Text 119"/>
          <p:cNvSpPr/>
          <p:nvPr/>
        </p:nvSpPr>
        <p:spPr>
          <a:xfrm>
            <a:off x="3493008" y="31089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041648" y="310896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3" name="Text 121"/>
          <p:cNvSpPr/>
          <p:nvPr/>
        </p:nvSpPr>
        <p:spPr>
          <a:xfrm>
            <a:off x="4059936" y="31089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05/14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608576" y="310896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5" name="Text 123"/>
          <p:cNvSpPr/>
          <p:nvPr/>
        </p:nvSpPr>
        <p:spPr>
          <a:xfrm>
            <a:off x="4626864" y="3108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5065776" y="310896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7" name="Text 125"/>
          <p:cNvSpPr/>
          <p:nvPr/>
        </p:nvSpPr>
        <p:spPr>
          <a:xfrm>
            <a:off x="5084064" y="3108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522976" y="310896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9" name="Text 127"/>
          <p:cNvSpPr/>
          <p:nvPr/>
        </p:nvSpPr>
        <p:spPr>
          <a:xfrm>
            <a:off x="5541264" y="31089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345936" y="310896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1" name="Text 129"/>
          <p:cNvSpPr/>
          <p:nvPr/>
        </p:nvSpPr>
        <p:spPr>
          <a:xfrm>
            <a:off x="6364224" y="310896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56032" y="3474720"/>
            <a:ext cx="47548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Text 131"/>
          <p:cNvSpPr/>
          <p:nvPr/>
        </p:nvSpPr>
        <p:spPr>
          <a:xfrm>
            <a:off x="274320" y="3474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T007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31520" y="3474720"/>
            <a:ext cx="20299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Text 133"/>
          <p:cNvSpPr/>
          <p:nvPr/>
        </p:nvSpPr>
        <p:spPr>
          <a:xfrm>
            <a:off x="749808" y="34747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秘密情報管理(Vault)導入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2761488" y="3474720"/>
            <a:ext cx="7132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7" name="Text 135"/>
          <p:cNvSpPr/>
          <p:nvPr/>
        </p:nvSpPr>
        <p:spPr>
          <a:xfrm>
            <a:off x="2779776" y="347472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3474720" y="347472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9" name="Text 137"/>
          <p:cNvSpPr/>
          <p:nvPr/>
        </p:nvSpPr>
        <p:spPr>
          <a:xfrm>
            <a:off x="3493008" y="34747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4041648" y="347472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1" name="Text 139"/>
          <p:cNvSpPr/>
          <p:nvPr/>
        </p:nvSpPr>
        <p:spPr>
          <a:xfrm>
            <a:off x="4059936" y="34747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05/14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608576" y="347472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3" name="Text 141"/>
          <p:cNvSpPr/>
          <p:nvPr/>
        </p:nvSpPr>
        <p:spPr>
          <a:xfrm>
            <a:off x="4626864" y="34747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5日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065776" y="347472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5" name="Text 143"/>
          <p:cNvSpPr/>
          <p:nvPr/>
        </p:nvSpPr>
        <p:spPr>
          <a:xfrm>
            <a:off x="5084064" y="34747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5522976" y="347472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7" name="Text 145"/>
          <p:cNvSpPr/>
          <p:nvPr/>
        </p:nvSpPr>
        <p:spPr>
          <a:xfrm>
            <a:off x="5541264" y="347472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6345936" y="347472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9" name="Text 147"/>
          <p:cNvSpPr/>
          <p:nvPr/>
        </p:nvSpPr>
        <p:spPr>
          <a:xfrm>
            <a:off x="6364224" y="34747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256032" y="3840480"/>
            <a:ext cx="4754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1" name="Text 149"/>
          <p:cNvSpPr/>
          <p:nvPr/>
        </p:nvSpPr>
        <p:spPr>
          <a:xfrm>
            <a:off x="274320" y="38404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T008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31520" y="3840480"/>
            <a:ext cx="20299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3" name="Text 151"/>
          <p:cNvSpPr/>
          <p:nvPr/>
        </p:nvSpPr>
        <p:spPr>
          <a:xfrm>
            <a:off x="749808" y="38404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監査ログ出力基盤構築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2761488" y="3840480"/>
            <a:ext cx="7132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5" name="Text 153"/>
          <p:cNvSpPr/>
          <p:nvPr/>
        </p:nvSpPr>
        <p:spPr>
          <a:xfrm>
            <a:off x="2779776" y="384048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3474720" y="384048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7" name="Text 155"/>
          <p:cNvSpPr/>
          <p:nvPr/>
        </p:nvSpPr>
        <p:spPr>
          <a:xfrm>
            <a:off x="3493008" y="38404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4041648" y="384048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9" name="Text 157"/>
          <p:cNvSpPr/>
          <p:nvPr/>
        </p:nvSpPr>
        <p:spPr>
          <a:xfrm>
            <a:off x="4059936" y="38404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05/14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4608576" y="384048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1" name="Text 159"/>
          <p:cNvSpPr/>
          <p:nvPr/>
        </p:nvSpPr>
        <p:spPr>
          <a:xfrm>
            <a:off x="4626864" y="38404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6日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5065776" y="384048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3" name="Text 161"/>
          <p:cNvSpPr/>
          <p:nvPr/>
        </p:nvSpPr>
        <p:spPr>
          <a:xfrm>
            <a:off x="5084064" y="38404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5522976" y="384048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5" name="Text 163"/>
          <p:cNvSpPr/>
          <p:nvPr/>
        </p:nvSpPr>
        <p:spPr>
          <a:xfrm>
            <a:off x="5541264" y="384048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6345936" y="384048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7" name="Text 165"/>
          <p:cNvSpPr/>
          <p:nvPr/>
        </p:nvSpPr>
        <p:spPr>
          <a:xfrm>
            <a:off x="6364224" y="384048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256032" y="4206240"/>
            <a:ext cx="47548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9" name="Text 167"/>
          <p:cNvSpPr/>
          <p:nvPr/>
        </p:nvSpPr>
        <p:spPr>
          <a:xfrm>
            <a:off x="274320" y="4206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T009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731520" y="4206240"/>
            <a:ext cx="20299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1" name="Text 169"/>
          <p:cNvSpPr/>
          <p:nvPr/>
        </p:nvSpPr>
        <p:spPr>
          <a:xfrm>
            <a:off x="749808" y="42062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リフレッシュトークン実装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2761488" y="4206240"/>
            <a:ext cx="7132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3" name="Text 171"/>
          <p:cNvSpPr/>
          <p:nvPr/>
        </p:nvSpPr>
        <p:spPr>
          <a:xfrm>
            <a:off x="2779776" y="420624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3474720" y="420624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5" name="Text 173"/>
          <p:cNvSpPr/>
          <p:nvPr/>
        </p:nvSpPr>
        <p:spPr>
          <a:xfrm>
            <a:off x="3493008" y="42062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4041648" y="4206240"/>
            <a:ext cx="56692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7" name="Text 175"/>
          <p:cNvSpPr/>
          <p:nvPr/>
        </p:nvSpPr>
        <p:spPr>
          <a:xfrm>
            <a:off x="4059936" y="42062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05/16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4608576" y="420624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9" name="Text 177"/>
          <p:cNvSpPr/>
          <p:nvPr/>
        </p:nvSpPr>
        <p:spPr>
          <a:xfrm>
            <a:off x="4626864" y="420624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5日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5065776" y="4206240"/>
            <a:ext cx="457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1" name="Text 179"/>
          <p:cNvSpPr/>
          <p:nvPr/>
        </p:nvSpPr>
        <p:spPr>
          <a:xfrm>
            <a:off x="5084064" y="420624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5522976" y="420624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3" name="Text 181"/>
          <p:cNvSpPr/>
          <p:nvPr/>
        </p:nvSpPr>
        <p:spPr>
          <a:xfrm>
            <a:off x="5541264" y="420624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6345936" y="420624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5" name="Text 183"/>
          <p:cNvSpPr/>
          <p:nvPr/>
        </p:nvSpPr>
        <p:spPr>
          <a:xfrm>
            <a:off x="6364224" y="420624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256032" y="4572000"/>
            <a:ext cx="4754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7" name="Text 185"/>
          <p:cNvSpPr/>
          <p:nvPr/>
        </p:nvSpPr>
        <p:spPr>
          <a:xfrm>
            <a:off x="274320" y="45720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T010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731520" y="4572000"/>
            <a:ext cx="20299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9" name="Text 187"/>
          <p:cNvSpPr/>
          <p:nvPr/>
        </p:nvSpPr>
        <p:spPr>
          <a:xfrm>
            <a:off x="749808" y="45720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APIレート制限・Throttling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2761488" y="4572000"/>
            <a:ext cx="7132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1" name="Text 189"/>
          <p:cNvSpPr/>
          <p:nvPr/>
        </p:nvSpPr>
        <p:spPr>
          <a:xfrm>
            <a:off x="2779776" y="457200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3474720" y="457200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3" name="Text 191"/>
          <p:cNvSpPr/>
          <p:nvPr/>
        </p:nvSpPr>
        <p:spPr>
          <a:xfrm>
            <a:off x="3493008" y="45720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4041648" y="4572000"/>
            <a:ext cx="5669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5" name="Text 193"/>
          <p:cNvSpPr/>
          <p:nvPr/>
        </p:nvSpPr>
        <p:spPr>
          <a:xfrm>
            <a:off x="4059936" y="45720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05/20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4608576" y="457200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7" name="Text 195"/>
          <p:cNvSpPr/>
          <p:nvPr/>
        </p:nvSpPr>
        <p:spPr>
          <a:xfrm>
            <a:off x="4626864" y="45720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5065776" y="4572000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9" name="Text 197"/>
          <p:cNvSpPr/>
          <p:nvPr/>
        </p:nvSpPr>
        <p:spPr>
          <a:xfrm>
            <a:off x="5084064" y="45720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5522976" y="4572000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1" name="Text 199"/>
          <p:cNvSpPr/>
          <p:nvPr/>
        </p:nvSpPr>
        <p:spPr>
          <a:xfrm>
            <a:off x="5541264" y="4572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6345936" y="4572000"/>
            <a:ext cx="93268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3" name="Text 201"/>
          <p:cNvSpPr/>
          <p:nvPr/>
        </p:nvSpPr>
        <p:spPr>
          <a:xfrm>
            <a:off x="6364224" y="45720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256032" y="4992624"/>
            <a:ext cx="411480" cy="12801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5" name="Text 203"/>
          <p:cNvSpPr/>
          <p:nvPr/>
        </p:nvSpPr>
        <p:spPr>
          <a:xfrm>
            <a:off x="694944" y="499262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完了(done)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1920240" y="4992624"/>
            <a:ext cx="41148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7" name="Text 205"/>
          <p:cNvSpPr/>
          <p:nvPr/>
        </p:nvSpPr>
        <p:spPr>
          <a:xfrm>
            <a:off x="2359152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未着手(not_started)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4572000" y="4992624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T004/T005 = 要監視タスク（遅延・リスク対象）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　議事録・YAML 比較（第2回 vs 第3回）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2週間の議事録から読み取れる変化点とspec_yaml.yamlの構造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5074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5074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議事録比較（第2回 vs 第3回）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489204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第2回（5/11）順調フェーズ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 要件定義 → 部長承認・正式完了（done）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 OAuth設計: 進捗中（progress 80%）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 DBスキーマ: 進捗中（progress 70%）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 MFA設計: 内藤PM担当・5/14骨子予定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田中: Vault検証環境プロビジョニング開始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佐藤: IDL（インターフェース定義）早期要望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AI書記: アクションアイテム3件を自動記録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3236976"/>
            <a:ext cx="48920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1480" y="3236976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第3回（5/18）重大トラブル発生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T005: CVE-2026-9999脆弱性 → リセット・3日遅延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APIシグネチャ変更（JWE→別形式）→ T011影響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T006: CSRF実装 → 前倒し完了・PR提出済み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T008: 後ろ倒し（田中がT007支援へ）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T004: 内藤PM出張で全く未着手（沈黙のリスク）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新規: 移行テスト（佐藤担当・5/22期限）追加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AI書記: 逆質問・リスクを自動生成（F1出力）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68112" y="1005840"/>
            <a:ext cx="3419856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68112" y="1005840"/>
            <a:ext cx="3419856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559552" y="1005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spec_yaml.yaml 解説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1408176"/>
            <a:ext cx="3273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532120" y="1408176"/>
            <a:ext cx="54864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14356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project_metadata: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プロジェクト名・v1.0.2・2026-05-11・PM: 内藤 睦博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32120" y="2011680"/>
            <a:ext cx="3273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532120" y="2011680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623560" y="20391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task_status[T001]: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2356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done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100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completed_at: 2026-05-11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532120" y="2615184"/>
            <a:ext cx="3273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532120" y="2615184"/>
            <a:ext cx="54864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623560" y="26426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task_status[T002]: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in_progress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80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 鈴木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32120" y="3218688"/>
            <a:ext cx="3273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5532120" y="3218688"/>
            <a:ext cx="54864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623560" y="3246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task_status[T003]: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356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in_progress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70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 鈴木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32120" y="3822192"/>
            <a:ext cx="3273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5532120" y="3822192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623560" y="38496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task_status[T004]: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3560" y="4059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not_started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 内藤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5/14までに骨子作成予定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532120" y="4425696"/>
            <a:ext cx="3273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532120" y="4425696"/>
            <a:ext cx="54864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623560" y="44531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v1.0.2 / 2026-05-11</a:t>
            </a:r>
            <a:endParaRPr lang="en-US" sz="750" dirty="0"/>
          </a:p>
          <a:p>
            <a:pPr marL="0" indent="0">
              <a:buNone/>
            </a:pPr>
            <a:r>
              <a:rPr lang="en-US" sz="7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要件定義完了・設計フェーズへ移行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200400" y="2400300"/>
            <a:ext cx="2743200" cy="274320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ワークフロー仕様書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　上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828800" y="2423160"/>
            <a:ext cx="5486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Multi-Agent Risk Orchestrator  ＋  F2: Schedule Optimizer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プロジェクト：認証システムセキュリティ改善　|　PM: 内藤 睦博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Workflow v0.6.0　|　ナレッジベース 30パターン　|　総エージェント数 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3471</Words>
  <Application>Microsoft Office PowerPoint</Application>
  <PresentationFormat>画面に合わせる (16:9)</PresentationFormat>
  <Paragraphs>799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ワークフロー仕様書</dc:title>
  <dc:subject>PptxGenJS Presentation</dc:subject>
  <dc:creator>PptxGenJS</dc:creator>
  <cp:lastModifiedBy>Mutsuhiro Naito</cp:lastModifiedBy>
  <cp:revision>4</cp:revision>
  <dcterms:created xsi:type="dcterms:W3CDTF">2026-04-30T08:42:21Z</dcterms:created>
  <dcterms:modified xsi:type="dcterms:W3CDTF">2026-04-30T14:15:57Z</dcterms:modified>
</cp:coreProperties>
</file>